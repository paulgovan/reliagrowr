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7"/>
    <p:sldId id="257" r:id="rId8"/>
    <p:sldId id="258" r:id="rId9"/>
    <p:sldId id="259" r:id="rId6"/>
    <p:sldId id="260" r:id="rId5"/>
    <p:sldId id="261" r:id="rId4"/>
    <p:sldId id="262" r:id="rId3"/>
    <p:sldId id="263" r:id="rId2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802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94B50-004B-4113-BF36-43D87D9ECD37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D28A4-03AA-410D-AB0E-8783F1735D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572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warm, then straight into the anecdote. Do not read the abstract. ~20 min talk, reserve 5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anecdote. Keep products generic (GE disclosure norms). Set up BOTH halves of the gap: (a) growth was real but the life distribution didn't reflect it, (b) the growth model gave no per-unit risk. Slides 11 and 14 pay this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anecdote generalized. The whole method is the bridge between these two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remedies improve estimation of a STATIC distribution. None propagate a growth trend. That's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with ad hoc multipliers. Mechanism: growth -&gt; fewer forecast failures -&gt; larger fitted eta. Everything after makes this quantitative and bounded.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Genuine growth in Phase 1, bridged onto a real fleet. Forecast is conditional on that Phase-1 trend carrying into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at altitude. Do not walk equations 1-11 unless asked (backup).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only relation shown. c multiplies the no-growth count. Below 1 =&gt; fewer failures =&gt; larger fitted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Heavy censoring: 80 of 100 units survive. Baseline anchors everything downstream.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beta_g is SYSTEM-level. Distinct from the unit-level Weibull beta on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Growth shows primarily as a shift in eta (+18%). B10 is conservative because the shape drops slightly. Report both; lead with 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shift is stable across draws, not a lucky sample. Precise: variability band, not a confidence interval; model-form uncertainty not represented.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'none' box on the baseline is the credibility check. Variation elsewhere is inherited from the baseline fit under censoring.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Conclusions in bulleted form. Lead with eta (+17.6%); B10 is the conservative companion. The last two bullets are the non-negotiable honesty RAMS reviewers look for — never overclaim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Steps / Future Work as its own slide, bulleted. Drawn from the paper's Limitations section (validation gap, unpropagated uncertainties, alternative models, fleet homogeneity) plus the open-source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 RAMS closer. Equation/algorithm backup slides can follow (hidden)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15ECB-A889-925D-43A7-BF55AF6FB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0653" y="962819"/>
            <a:ext cx="10042358" cy="849939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900" kern="1200" dirty="0">
                <a:solidFill>
                  <a:srgbClr val="FF0000"/>
                </a:solidFill>
                <a:latin typeface="Times New Roman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CECE3-A6DB-DC72-B9D9-2FB33B123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DE1E25A-C48F-EB66-2BF5-559355A909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9599" y="762000"/>
            <a:ext cx="10571747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17C5D485-53A4-3399-8597-22DC3F9A4EB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045369" y="2566737"/>
            <a:ext cx="9200146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2E2F70-0EC8-121C-8DCC-649668FB4B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0112" y="6032450"/>
            <a:ext cx="3830513" cy="70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02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011F4-CEFF-C305-631A-69C2E104E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810" y="589715"/>
            <a:ext cx="10663990" cy="1325563"/>
          </a:xfrm>
        </p:spPr>
        <p:txBody>
          <a:bodyPr anchor="t">
            <a:normAutofit/>
          </a:bodyPr>
          <a:lstStyle>
            <a:lvl1pPr>
              <a:defRPr kumimoji="0" lang="en-US" sz="3600" b="0" i="0" u="none" strike="noStrike" kern="1200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28C2C-D374-1A74-B8E5-42574EA87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9875"/>
            <a:ext cx="10515600" cy="4088131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231CC03-210E-3D34-8266-F1EA997B0B8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1158" y="425118"/>
            <a:ext cx="10571747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E84D41-5E68-509B-9655-3C9085C6002A}"/>
              </a:ext>
            </a:extLst>
          </p:cNvPr>
          <p:cNvSpPr txBox="1"/>
          <p:nvPr userDrawn="1"/>
        </p:nvSpPr>
        <p:spPr>
          <a:xfrm>
            <a:off x="4095180" y="6248216"/>
            <a:ext cx="3264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2027 RAMS – Session# – Last Name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49832FC-0D13-E3D6-F7FF-5981DE2115E6}"/>
              </a:ext>
            </a:extLst>
          </p:cNvPr>
          <p:cNvSpPr txBox="1">
            <a:spLocks/>
          </p:cNvSpPr>
          <p:nvPr userDrawn="1"/>
        </p:nvSpPr>
        <p:spPr>
          <a:xfrm>
            <a:off x="9180091" y="62761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0610F4-5E3C-4E2B-8D6E-C7479FB620AE}" type="slidenum">
              <a:rPr lang="en-US" sz="1400" smtClean="0">
                <a:solidFill>
                  <a:srgbClr val="FF0000"/>
                </a:solidFill>
              </a:rPr>
              <a:pPr/>
              <a:t>‹#›</a:t>
            </a:fld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21EFB-A7C6-6806-981A-128C44B2D7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fld id="{C70610F4-5E3C-4E2B-8D6E-C7479FB620AE}" type="slidenum">
              <a:rPr lang="en-US" smtClean="0"/>
              <a:pPr/>
              <a:t>‹#›</a:t>
            </a:fld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933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64136-1865-4A02-E046-7EE435C10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34705-72B5-A53B-E9E5-103E17B7F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18978-6E85-8329-74B7-3E40B57D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DAFFE-143E-EC63-8C50-6C3B85F77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2027 RAMS –Tutorial Session# – Last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AA594-F9A3-717A-323D-3398524C6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fld id="{C70610F4-5E3C-4E2B-8D6E-C7479FB620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008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77C11-BCA8-A7AF-24F1-1138D5173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420C4-0E65-95E8-DFB0-B1C6AAD47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237FE-B1D6-CAC6-4F2F-E12666512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63C12-DCD7-46D4-EF6D-7BA168982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5CC60-1220-8B88-33BB-6EDA046E7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2027 RAMS –Tutorial Session# – Last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7CB47-0471-4411-2678-66497B0A2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fld id="{C70610F4-5E3C-4E2B-8D6E-C7479FB620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18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E73F6-0A0C-FE5E-DFFE-2F7DD8047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EF2F6-FDE4-34A7-D8D2-D736B1085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759C67-27BF-F94C-3E8F-C267CD23B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717EE2-EA62-7D3E-E864-8063094E7A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DF58CD-9337-9DB1-CEDB-FC2236C27E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BA0E6D-3A8A-D23C-41BC-2D6A907E88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369ED3-114B-4026-0656-3EAB054DC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2027 RAMS –Tutorial Session# – Last Name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C62E69-DE48-DE7B-67EB-52DF04C49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fld id="{C70610F4-5E3C-4E2B-8D6E-C7479FB620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070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699BC-B119-E217-B9C7-321DECC80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7822FA-DE3F-3033-6CB7-0A2487D31F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2E8E97-C1CB-3526-6845-0B9B27FED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2027 RAMS –Tutorial Session# – Last 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6EA13-D457-3914-3211-522FA122F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0610F4-5E3C-4E2B-8D6E-C7479FB620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054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46421D-B20C-3764-65B5-935B68898B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E6A92C-1CF7-3E55-74A1-21A8AB7AE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2027 RAMS –Tutorial Session# – Last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DD159-9A60-5668-A6CD-C40A0FAC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fld id="{C70610F4-5E3C-4E2B-8D6E-C7479FB620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112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3CCB-9434-2008-07FC-D50834251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90430-8645-2EA8-C3C0-0EE3C2F24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D2C02-0471-DDE8-688C-A1A08B497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BE945-A271-A539-3CE4-670316EA90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F762E-A0C2-227A-9AFA-EB7778F54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2027 RAMS –Tutorial Session# – Last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50F9E-A2E3-891F-DA40-91C9EC4C3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fld id="{C70610F4-5E3C-4E2B-8D6E-C7479FB620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192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BBFBD-F860-F1AD-ACB2-AA3FEC84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87C8DD-E1C4-F38E-7468-FD42AEAC26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E38FB-388C-EC08-CAE8-9AAFE783F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87402-6B73-1187-C9AD-FE2F533A6D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168EB-D260-02A0-1C06-974C0AFC7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2024 RAMS –Tutorial Session# – Last Name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6BAF1-C080-6E5F-FFF4-F36EB6370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0610F4-5E3C-4E2B-8D6E-C7479FB620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560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AD460-E978-028B-FB96-53092BFF4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74C475-B6FE-E007-04A5-D27EEF2DC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259B2-5029-4A01-9CD2-FAD7C3FDE3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E5A06-80A9-2BD2-95EC-92EA2312B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2024 RAMS –Tutorial Session# – Last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056AA-E922-FD53-2D25-EAE9515B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0610F4-5E3C-4E2B-8D6E-C7479FB620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037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7C7BB4-2CA5-A191-A0E6-BEFB607D95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F9F753-CD45-E781-11B3-F17FE12C9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5B57E-7A58-F73B-7E8D-D4649B72D7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5CEDD-3C52-D041-7996-58243B300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2024 RAMS –Tutorial Session# – Last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53984-9006-050D-1F3B-A393A790C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0610F4-5E3C-4E2B-8D6E-C7479FB620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1637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D68D8-5308-C5A4-A652-F24B3D213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D0A8B-C29F-B38B-18BE-AB72BDF30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C5D72-266D-C97F-2275-39903CB88B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rgbClr val="FF0000"/>
                </a:solidFill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en-US" dirty="0">
                <a:latin typeface="Times New Roman" panose="02020603050405020304" pitchFamily="18" charset="0"/>
              </a:rPr>
              <a:t>2027 RAMS – Session# – Last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505BC-174D-D966-E159-6F04056D8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70610F4-5E3C-4E2B-8D6E-C7479FB620A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184724-E32B-7746-5718-D003D82E9CC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22230" y="5998828"/>
            <a:ext cx="715970" cy="75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280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400" b="1">
                <a:solidFill>
                  <a:srgbClr val="14243A"/>
                </a:solidFill>
                <a:latin typeface="Calibri"/>
              </a:rPr>
              <a:t>Growth-Adjusted Life Distribution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500" i="1">
                <a:solidFill>
                  <a:srgbClr val="5B6875"/>
                </a:solidFill>
                <a:latin typeface="Calibri"/>
              </a:rPr>
              <a:t>A simulation-based framework that carries a development growth trend into a fleet-level life estimate.</a:t>
            </a:r>
          </a:p>
          <a:p>
            <a:pPr algn="ctr">
              <a:spcBef>
                <a:spcPts val="1000"/>
              </a:spcBef>
            </a:pPr>
            <a:r>
              <a:rPr sz="1600" b="1">
                <a:solidFill>
                  <a:srgbClr val="14243A"/>
                </a:solidFill>
                <a:latin typeface="Calibri"/>
              </a:rPr>
              <a:t>Paul Govan</a:t>
            </a:r>
            <a:r>
              <a:rPr sz="1600" b="0">
                <a:solidFill>
                  <a:srgbClr val="1C2733"/>
                </a:solidFill>
                <a:latin typeface="Calibri"/>
              </a:rPr>
              <a:t>   ·   GE Aerospace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" y="5669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ANNUAL RELIABILITY &amp; MAINTAINABILITY SYMPOSIUM  ·  RAMS 2027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56032"/>
            <a:ext cx="2788920" cy="511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532120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4243A"/>
                </a:solidFill>
                <a:latin typeface="Calibri"/>
              </a:rPr>
              <a:t>The gap</a:t>
            </a:r>
            <a:r>
              <a:rPr sz="1300" b="1" i="0">
                <a:solidFill>
                  <a:srgbClr val="C32135"/>
                </a:solidFill>
                <a:latin typeface="Calibri"/>
              </a:rPr>
              <a:t>   →   </a:t>
            </a:r>
            <a:r>
              <a:rPr sz="1300" b="1" i="0">
                <a:solidFill>
                  <a:srgbClr val="14243A"/>
                </a:solidFill>
                <a:latin typeface="Calibri"/>
              </a:rPr>
              <a:t>The idea</a:t>
            </a:r>
            <a:r>
              <a:rPr sz="1300" b="1" i="0">
                <a:solidFill>
                  <a:srgbClr val="C32135"/>
                </a:solidFill>
                <a:latin typeface="Calibri"/>
              </a:rPr>
              <a:t>   →   </a:t>
            </a:r>
            <a:r>
              <a:rPr sz="1300" b="1" i="0">
                <a:solidFill>
                  <a:srgbClr val="14243A"/>
                </a:solidFill>
                <a:latin typeface="Calibri"/>
              </a:rPr>
              <a:t>The case study</a:t>
            </a:r>
            <a:r>
              <a:rPr sz="1300" b="1" i="0">
                <a:solidFill>
                  <a:srgbClr val="C32135"/>
                </a:solidFill>
                <a:latin typeface="Calibri"/>
              </a:rPr>
              <a:t>   →   </a:t>
            </a:r>
            <a:r>
              <a:rPr sz="1300" b="1" i="0">
                <a:solidFill>
                  <a:srgbClr val="14243A"/>
                </a:solidFill>
                <a:latin typeface="Calibri"/>
              </a:rPr>
              <a:t>What it means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BACKGROUND &amp; INTRODUCTION</a:t>
            </a:r>
          </a:p>
        </p:txBody>
      </p:sp>
      <p:sp>
        <p:nvSpPr>
          <p:cNvPr id="3" name="Diamond 2"/>
          <p:cNvSpPr/>
          <p:nvPr/>
        </p:nvSpPr>
        <p:spPr>
          <a:xfrm>
            <a:off x="566928" y="713232"/>
            <a:ext cx="155448" cy="155448"/>
          </a:xfrm>
          <a:prstGeom prst="diamond">
            <a:avLst/>
          </a:prstGeom>
          <a:solidFill>
            <a:srgbClr val="C32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4243A"/>
                </a:solidFill>
                <a:latin typeface="Calibri"/>
              </a:rPr>
              <a:t>When the growth was real — but the forecast didn't show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72768"/>
            <a:ext cx="6720840" cy="13716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1828800"/>
            <a:ext cx="475488" cy="475488"/>
          </a:xfrm>
          <a:prstGeom prst="ellipse">
            <a:avLst/>
          </a:prstGeom>
          <a:solidFill>
            <a:srgbClr val="14243A"/>
          </a:solidFill>
          <a:ln w="19050">
            <a:solidFill>
              <a:srgbClr val="C32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19072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243A"/>
                </a:solidFill>
                <a:latin typeface="Calibri"/>
              </a:rPr>
              <a:t>The design got better.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84832"/>
            <a:ext cx="5623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C2733"/>
                </a:solidFill>
                <a:latin typeface="Calibri"/>
              </a:rPr>
              <a:t>We drove design improvements through development, and the growth analysis confirmed it: failure intensity was trending down. The system was genuinely improving.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063239"/>
            <a:ext cx="6720840" cy="13716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4128" y="3319272"/>
            <a:ext cx="475488" cy="475488"/>
          </a:xfrm>
          <a:prstGeom prst="ellipse">
            <a:avLst/>
          </a:prstGeom>
          <a:solidFill>
            <a:srgbClr val="14243A"/>
          </a:solidFill>
          <a:ln w="19050">
            <a:solidFill>
              <a:srgbClr val="C32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209544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243A"/>
                </a:solidFill>
                <a:latin typeface="Calibri"/>
              </a:rPr>
              <a:t>But the life distribution didn't move — yet.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575303"/>
            <a:ext cx="5623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C2733"/>
                </a:solidFill>
                <a:latin typeface="Calibri"/>
              </a:rPr>
              <a:t>When we fitted the fleet's life distribution, that improvement wasn't reflected. The forecast still looked like the un-improved design.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553712"/>
            <a:ext cx="6720840" cy="13716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" y="4809744"/>
            <a:ext cx="475488" cy="475488"/>
          </a:xfrm>
          <a:prstGeom prst="ellipse">
            <a:avLst/>
          </a:prstGeom>
          <a:solidFill>
            <a:srgbClr val="14243A"/>
          </a:solidFill>
          <a:ln w="19050">
            <a:solidFill>
              <a:srgbClr val="C32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700016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243A"/>
                </a:solidFill>
                <a:latin typeface="Calibri"/>
              </a:rPr>
              <a:t>The growth model couldn't give us the piece we needed.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065775"/>
            <a:ext cx="5623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C2733"/>
                </a:solidFill>
                <a:latin typeface="Calibri"/>
              </a:rPr>
              <a:t>Crow-AMSAA is a system-level trend. It never spoke to individual-unit risk — when a given unit is likely to fail.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640205"/>
            <a:ext cx="4160520" cy="31661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ig_r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731645"/>
            <a:ext cx="3977639" cy="298322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0" y="489204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5B6875"/>
                </a:solidFill>
                <a:latin typeface="Calibri"/>
              </a:rPr>
              <a:t>Development: reliability genuinely improving (βg = 0.60)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605332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1">
                <a:solidFill>
                  <a:srgbClr val="3E5C76"/>
                </a:solidFill>
                <a:latin typeface="Calibri"/>
              </a:rPr>
              <a:t>A system that was improving, and a forecast that ignored it — with no bridge between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BACKGROUND &amp; INTRODUCTION</a:t>
            </a:r>
          </a:p>
        </p:txBody>
      </p:sp>
      <p:sp>
        <p:nvSpPr>
          <p:cNvPr id="3" name="Diamond 2"/>
          <p:cNvSpPr/>
          <p:nvPr/>
        </p:nvSpPr>
        <p:spPr>
          <a:xfrm>
            <a:off x="566928" y="713232"/>
            <a:ext cx="155448" cy="155448"/>
          </a:xfrm>
          <a:prstGeom prst="diamond">
            <a:avLst/>
          </a:prstGeom>
          <a:solidFill>
            <a:srgbClr val="C32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4243A"/>
                </a:solidFill>
                <a:latin typeface="Calibri"/>
              </a:rPr>
              <a:t>Two analyses that never talk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4709160" cy="32461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32135"/>
                </a:solidFill>
                <a:latin typeface="Calibri"/>
              </a:rPr>
              <a:t>RELIABILITY GROWTH (RGA)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4243A"/>
                </a:solidFill>
                <a:latin typeface="Calibri"/>
              </a:rPr>
              <a:t>“Is the system improving?”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206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C2733"/>
                </a:solidFill>
                <a:latin typeface="Calibri"/>
              </a:rPr>
              <a:t>System-level failure intensity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C2733"/>
                </a:solidFill>
                <a:latin typeface="Calibri"/>
              </a:rPr>
              <a:t>Tracks a trend over test time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C2733"/>
                </a:solidFill>
                <a:latin typeface="Calibri"/>
              </a:rPr>
              <a:t>Projects a future failure count / MTBF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C2733"/>
                </a:solidFill>
                <a:latin typeface="Calibri"/>
              </a:rPr>
              <a:t>Says nothing about a single unit's life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691640"/>
            <a:ext cx="4709160" cy="32461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92024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32135"/>
                </a:solidFill>
                <a:latin typeface="Calibri"/>
              </a:rPr>
              <a:t>LIFE DISTRIBUTION (WEIBULL)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860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4243A"/>
                </a:solidFill>
                <a:latin typeface="Calibri"/>
              </a:rPr>
              <a:t>“How long does a unit last?”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926080"/>
            <a:ext cx="41605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C2733"/>
                </a:solidFill>
                <a:latin typeface="Calibri"/>
              </a:rPr>
              <a:t>Unit-level time-to-failure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C2733"/>
                </a:solidFill>
                <a:latin typeface="Calibri"/>
              </a:rPr>
              <a:t>Gives B-life and per-unit risk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C2733"/>
                </a:solidFill>
                <a:latin typeface="Calibri"/>
              </a:rPr>
              <a:t>Fitted to a fixed set of failures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C2733"/>
                </a:solidFill>
                <a:latin typeface="Calibri"/>
              </a:rPr>
              <a:t>Assumes the distribution isn't changing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4688" y="3017520"/>
            <a:ext cx="1170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8A8F98"/>
                </a:solidFill>
                <a:latin typeface="Calibri"/>
              </a:rPr>
              <a:t>→ ⁄⁄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4688" y="3611880"/>
            <a:ext cx="1170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8A8F98"/>
                </a:solidFill>
                <a:latin typeface="Calibri"/>
              </a:rPr>
              <a:t>no bridge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21208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C2733"/>
                </a:solidFill>
                <a:latin typeface="Calibri"/>
              </a:rPr>
              <a:t>The improvement seen in development never reaches the fleet's life distribution — so forecasts can systematically under-call future reliability.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BACKGROUND &amp; INTRODUCTION</a:t>
            </a:r>
          </a:p>
        </p:txBody>
      </p:sp>
      <p:sp>
        <p:nvSpPr>
          <p:cNvPr id="3" name="Diamond 2"/>
          <p:cNvSpPr/>
          <p:nvPr/>
        </p:nvSpPr>
        <p:spPr>
          <a:xfrm>
            <a:off x="566928" y="713232"/>
            <a:ext cx="155448" cy="155448"/>
          </a:xfrm>
          <a:prstGeom prst="diamond">
            <a:avLst/>
          </a:prstGeom>
          <a:solidFill>
            <a:srgbClr val="C32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4243A"/>
                </a:solidFill>
                <a:latin typeface="Calibri"/>
              </a:rPr>
              <a:t>Ignore growth, and the data works against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057400"/>
            <a:ext cx="566928" cy="566928"/>
          </a:xfrm>
          <a:prstGeom prst="ellipse">
            <a:avLst/>
          </a:prstGeom>
          <a:solidFill>
            <a:srgbClr val="14243A"/>
          </a:solidFill>
          <a:ln w="19050">
            <a:solidFill>
              <a:srgbClr val="C32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243584" y="2249424"/>
            <a:ext cx="182880" cy="182880"/>
          </a:xfrm>
          <a:prstGeom prst="diamond">
            <a:avLst/>
          </a:prstGeom>
          <a:solidFill>
            <a:srgbClr val="C32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83464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4243A"/>
                </a:solidFill>
                <a:latin typeface="Calibri"/>
              </a:rPr>
              <a:t>Censoring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364992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High-reliability units are pulled before they fail — the effective information is far smaller than the sample size.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78308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54296" y="2057400"/>
            <a:ext cx="566928" cy="566928"/>
          </a:xfrm>
          <a:prstGeom prst="ellipse">
            <a:avLst/>
          </a:prstGeom>
          <a:solidFill>
            <a:srgbClr val="14243A"/>
          </a:solidFill>
          <a:ln w="19050">
            <a:solidFill>
              <a:srgbClr val="C32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4846320" y="2249424"/>
            <a:ext cx="182880" cy="182880"/>
          </a:xfrm>
          <a:prstGeom prst="diamond">
            <a:avLst/>
          </a:prstGeom>
          <a:solidFill>
            <a:srgbClr val="C32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83464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4243A"/>
                </a:solidFill>
                <a:latin typeface="Calibri"/>
              </a:rPr>
              <a:t>Small-sample bias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3364992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With few failures, MLE is unstable; the Weibull shape parameter is especially sensitive.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2712" y="1783080"/>
            <a:ext cx="3429000" cy="30175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57032" y="2057400"/>
            <a:ext cx="566928" cy="566928"/>
          </a:xfrm>
          <a:prstGeom prst="ellipse">
            <a:avLst/>
          </a:prstGeom>
          <a:solidFill>
            <a:srgbClr val="14243A"/>
          </a:solidFill>
          <a:ln w="19050">
            <a:solidFill>
              <a:srgbClr val="C32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8449056" y="2249424"/>
            <a:ext cx="182880" cy="182880"/>
          </a:xfrm>
          <a:prstGeom prst="diamond">
            <a:avLst/>
          </a:prstGeom>
          <a:solidFill>
            <a:srgbClr val="C32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283464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4243A"/>
                </a:solidFill>
                <a:latin typeface="Calibri"/>
              </a:rPr>
              <a:t>Costly to be wrong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3364992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Extrapolating beyond the data under-calls reliability, with real safety and economic stakes.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578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1">
                <a:solidFill>
                  <a:srgbClr val="3E5C76"/>
                </a:solidFill>
                <a:latin typeface="Calibri"/>
              </a:rPr>
              <a:t>Reliability growth adds a fourth problem the others don't touch: the life distribution itself isn't fixed.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MAIN BODY</a:t>
            </a:r>
          </a:p>
        </p:txBody>
      </p:sp>
      <p:sp>
        <p:nvSpPr>
          <p:cNvPr id="3" name="Diamond 2"/>
          <p:cNvSpPr/>
          <p:nvPr/>
        </p:nvSpPr>
        <p:spPr>
          <a:xfrm>
            <a:off x="566928" y="713232"/>
            <a:ext cx="155448" cy="155448"/>
          </a:xfrm>
          <a:prstGeom prst="diamond">
            <a:avLst/>
          </a:prstGeom>
          <a:solidFill>
            <a:srgbClr val="C32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4243A"/>
                </a:solidFill>
                <a:latin typeface="Calibri"/>
              </a:rPr>
              <a:t>The idea, in one picture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2560320"/>
            <a:ext cx="475488" cy="475488"/>
          </a:xfrm>
          <a:prstGeom prst="ellipse">
            <a:avLst/>
          </a:prstGeom>
          <a:solidFill>
            <a:srgbClr val="14243A"/>
          </a:solidFill>
          <a:ln w="19050">
            <a:solidFill>
              <a:srgbClr val="C32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182112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43A"/>
                </a:solidFill>
                <a:latin typeface="Calibri"/>
              </a:rPr>
              <a:t>Growth trend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822191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C2733"/>
                </a:solidFill>
                <a:latin typeface="Calibri"/>
              </a:rPr>
              <a:t>The development Crow-AMSAA rate βg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6512" y="3063240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C32135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28600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82312" y="2560320"/>
            <a:ext cx="475488" cy="475488"/>
          </a:xfrm>
          <a:prstGeom prst="ellipse">
            <a:avLst/>
          </a:prstGeom>
          <a:solidFill>
            <a:srgbClr val="14243A"/>
          </a:solidFill>
          <a:ln w="19050">
            <a:solidFill>
              <a:srgbClr val="C32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3182112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43A"/>
                </a:solidFill>
                <a:latin typeface="Calibri"/>
              </a:rPr>
              <a:t>Fewer expected 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3822191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C2733"/>
                </a:solidFill>
                <a:latin typeface="Calibri"/>
              </a:rPr>
              <a:t>Growth lowers the count the fleet will see over a fixed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2" y="3063240"/>
            <a:ext cx="457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 i="0">
                <a:solidFill>
                  <a:srgbClr val="C32135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286000"/>
            <a:ext cx="3291840" cy="22860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85632" y="2560320"/>
            <a:ext cx="475488" cy="475488"/>
          </a:xfrm>
          <a:prstGeom prst="ellipse">
            <a:avLst/>
          </a:prstGeom>
          <a:solidFill>
            <a:srgbClr val="14243A"/>
          </a:solidFill>
          <a:ln w="19050">
            <a:solidFill>
              <a:srgbClr val="C32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3182112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43A"/>
                </a:solidFill>
                <a:latin typeface="Calibri"/>
              </a:rPr>
              <a:t>Life distribution shifts 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822191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C2733"/>
                </a:solidFill>
                <a:latin typeface="Calibri"/>
              </a:rPr>
              <a:t>Re-fit to the reduced-failure data → longer characteristic life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5B6875"/>
                </a:solidFill>
                <a:latin typeface="Calibri"/>
              </a:rPr>
              <a:t>Not a fixed growth multiplier on a distribution — the growth trend reshapes how many failures the surviving fleet is expected to produce, and the distribution is re-fitted to match.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MAIN BODY</a:t>
            </a:r>
          </a:p>
        </p:txBody>
      </p:sp>
      <p:sp>
        <p:nvSpPr>
          <p:cNvPr id="3" name="Diamond 2"/>
          <p:cNvSpPr/>
          <p:nvPr/>
        </p:nvSpPr>
        <p:spPr>
          <a:xfrm>
            <a:off x="566928" y="713232"/>
            <a:ext cx="155448" cy="155448"/>
          </a:xfrm>
          <a:prstGeom prst="diamond">
            <a:avLst/>
          </a:prstGeom>
          <a:solidFill>
            <a:srgbClr val="C32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4243A"/>
                </a:solidFill>
                <a:latin typeface="Calibri"/>
              </a:rPr>
              <a:t>One program, two phases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4709160" cy="27889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4243A"/>
                </a:solidFill>
                <a:latin typeface="Calibri"/>
              </a:rPr>
              <a:t>Developmental growth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4206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C2733"/>
                </a:solidFill>
                <a:latin typeface="Calibri"/>
              </a:rPr>
              <a:t>30 prototypes built &amp; tested in sequence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C2733"/>
                </a:solidFill>
                <a:latin typeface="Calibri"/>
              </a:rPr>
              <a:t>Test-analyze-fix: each build improves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C2733"/>
                </a:solidFill>
                <a:latin typeface="Calibri"/>
              </a:rPr>
              <a:t>Crow-AMSAA quantifies the trend βg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623560" y="3063240"/>
            <a:ext cx="960120" cy="594360"/>
          </a:xfrm>
          <a:prstGeom prst="rightArrow">
            <a:avLst/>
          </a:prstGeom>
          <a:solidFill>
            <a:srgbClr val="C32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3703320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 i="0">
                <a:solidFill>
                  <a:srgbClr val="3E5C76"/>
                </a:solidFill>
                <a:latin typeface="Calibri"/>
              </a:rPr>
              <a:t>bridge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965960"/>
            <a:ext cx="4663440" cy="27889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21945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5146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4243A"/>
                </a:solidFill>
                <a:latin typeface="Calibri"/>
              </a:rPr>
              <a:t>Fielded fleet (matured design)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108960"/>
            <a:ext cx="41605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C2733"/>
                </a:solidFill>
                <a:latin typeface="Calibri"/>
              </a:rPr>
              <a:t>100 units over a 1000-hour campaign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C2733"/>
                </a:solidFill>
                <a:latin typeface="Calibri"/>
              </a:rPr>
              <a:t>20 failures, 80 still surviving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C2733"/>
                </a:solidFill>
                <a:latin typeface="Calibri"/>
              </a:rPr>
              <a:t>Weibull fit = the no-growth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57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C2733"/>
                </a:solidFill>
                <a:latin typeface="Calibri"/>
              </a:rPr>
              <a:t>The trend estimated in Phase 1 is projected onto the Phase 2 fleet. Both phases are non-repairable units.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MAIN BODY</a:t>
            </a:r>
          </a:p>
        </p:txBody>
      </p:sp>
      <p:sp>
        <p:nvSpPr>
          <p:cNvPr id="3" name="Diamond 2"/>
          <p:cNvSpPr/>
          <p:nvPr/>
        </p:nvSpPr>
        <p:spPr>
          <a:xfrm>
            <a:off x="566928" y="713232"/>
            <a:ext cx="155448" cy="155448"/>
          </a:xfrm>
          <a:prstGeom prst="diamond">
            <a:avLst/>
          </a:prstGeom>
          <a:solidFill>
            <a:srgbClr val="C32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4243A"/>
                </a:solidFill>
                <a:latin typeface="Calibri"/>
              </a:rPr>
              <a:t>Three stages, one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429000" cy="31546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2148840"/>
            <a:ext cx="548640" cy="548640"/>
          </a:xfrm>
          <a:prstGeom prst="ellipse">
            <a:avLst/>
          </a:prstGeom>
          <a:solidFill>
            <a:srgbClr val="14243A"/>
          </a:solidFill>
          <a:ln w="19050">
            <a:solidFill>
              <a:srgbClr val="C32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43A"/>
                </a:solidFill>
                <a:latin typeface="Calibri"/>
              </a:rPr>
              <a:t>Growth lowers the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65760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The growth rate scales down how many failures the fleet is expected to see over the forecast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3944" y="3063240"/>
            <a:ext cx="365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C32135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828800"/>
            <a:ext cx="3429000" cy="31546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72584" y="2148840"/>
            <a:ext cx="548640" cy="548640"/>
          </a:xfrm>
          <a:prstGeom prst="ellipse">
            <a:avLst/>
          </a:prstGeom>
          <a:solidFill>
            <a:srgbClr val="14243A"/>
          </a:solidFill>
          <a:ln w="19050">
            <a:solidFill>
              <a:srgbClr val="C32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88036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43A"/>
                </a:solidFill>
                <a:latin typeface="Calibri"/>
              </a:rPr>
              <a:t>Conditional Weibull 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365760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Draw failure times for surviving units, calibrated to hit that reduced count; censor the rest.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063240"/>
            <a:ext cx="365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C32135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2712" y="1828800"/>
            <a:ext cx="3429000" cy="31546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75320" y="2148840"/>
            <a:ext cx="548640" cy="548640"/>
          </a:xfrm>
          <a:prstGeom prst="ellipse">
            <a:avLst/>
          </a:prstGeom>
          <a:solidFill>
            <a:srgbClr val="14243A"/>
          </a:solidFill>
          <a:ln w="19050">
            <a:solidFill>
              <a:srgbClr val="C32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88036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43A"/>
                </a:solidFill>
                <a:latin typeface="Calibri"/>
              </a:rPr>
              <a:t>Re-fit + Monte Carlo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3657600"/>
            <a:ext cx="2971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1C2733"/>
                </a:solidFill>
                <a:latin typeface="Calibri"/>
              </a:rPr>
              <a:t>Fit a growth-adjusted Weibull to the combined data; repeat to get variability bands.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492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B6875"/>
                </a:solidFill>
                <a:latin typeface="Calibri"/>
              </a:rPr>
              <a:t>The equations live in the backup. The story only needs these three moves.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MAIN BODY</a:t>
            </a:r>
          </a:p>
        </p:txBody>
      </p:sp>
      <p:sp>
        <p:nvSpPr>
          <p:cNvPr id="3" name="Diamond 2"/>
          <p:cNvSpPr/>
          <p:nvPr/>
        </p:nvSpPr>
        <p:spPr>
          <a:xfrm>
            <a:off x="566928" y="713232"/>
            <a:ext cx="155448" cy="155448"/>
          </a:xfrm>
          <a:prstGeom prst="diamond">
            <a:avLst/>
          </a:prstGeom>
          <a:solidFill>
            <a:srgbClr val="C32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4243A"/>
                </a:solidFill>
                <a:latin typeface="Calibri"/>
              </a:rPr>
              <a:t>The one number: the count-ratio c(βg)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11046"/>
            <a:ext cx="6446520" cy="45674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count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2486"/>
            <a:ext cx="6263640" cy="43845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86600" y="1737360"/>
            <a:ext cx="4480560" cy="39319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011680"/>
            <a:ext cx="39776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C2733"/>
                </a:solidFill>
                <a:latin typeface="Calibri"/>
              </a:rPr>
              <a:t>Stronger growth (smaller βg) </a:t>
            </a:r>
            <a:r>
              <a:rPr sz="1450" b="0" i="0">
                <a:solidFill>
                  <a:srgbClr val="1C2733"/>
                </a:solidFill>
                <a:latin typeface="Calibri"/>
              </a:rPr>
              <a:t>lowers the expected failure count over the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971800"/>
            <a:ext cx="39776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C32135"/>
                </a:solidFill>
                <a:latin typeface="Calibri"/>
              </a:rPr>
              <a:t>c(1) = 1</a:t>
            </a:r>
            <a:r>
              <a:rPr sz="1450" b="0" i="0">
                <a:solidFill>
                  <a:srgbClr val="1C2733"/>
                </a:solidFill>
                <a:latin typeface="Calibri"/>
              </a:rPr>
              <a:t>  —  no growth exactly recovers the no-growth benchmark.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931920"/>
            <a:ext cx="39776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4243A"/>
                </a:solidFill>
                <a:latin typeface="Calibri"/>
              </a:rPr>
              <a:t>Case study: c = 0.57</a:t>
            </a:r>
            <a:r>
              <a:rPr sz="1450" b="0" i="0">
                <a:solidFill>
                  <a:srgbClr val="1C2733"/>
                </a:solidFill>
                <a:latin typeface="Calibri"/>
              </a:rPr>
              <a:t>  —  growth cuts the expected failures nearly in half.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4892040"/>
            <a:ext cx="39776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5B6875"/>
                </a:solidFill>
                <a:latin typeface="Calibri"/>
              </a:rPr>
              <a:t>Scale-free: only the dimensionless growth rate enters — no development time unit is imported into the fleet.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MAIN BODY</a:t>
            </a:r>
          </a:p>
        </p:txBody>
      </p:sp>
      <p:sp>
        <p:nvSpPr>
          <p:cNvPr id="3" name="Diamond 2"/>
          <p:cNvSpPr/>
          <p:nvPr/>
        </p:nvSpPr>
        <p:spPr>
          <a:xfrm>
            <a:off x="566928" y="713232"/>
            <a:ext cx="155448" cy="155448"/>
          </a:xfrm>
          <a:prstGeom prst="diamond">
            <a:avLst/>
          </a:prstGeom>
          <a:solidFill>
            <a:srgbClr val="C32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4243A"/>
                </a:solidFill>
                <a:latin typeface="Calibri"/>
              </a:rPr>
              <a:t>Step 1 — the fleet's baseline life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880" y="1508760"/>
            <a:ext cx="6095999" cy="4617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" y="1600200"/>
            <a:ext cx="5913119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95160" y="1783080"/>
            <a:ext cx="4572000" cy="37033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2011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43A"/>
                </a:solidFill>
                <a:latin typeface="Calibri"/>
              </a:rPr>
              <a:t>No-growth baseline (MLE)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25603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4243A"/>
                </a:solidFill>
                <a:latin typeface="Calibri"/>
              </a:rPr>
              <a:t>β = 3.82</a:t>
            </a:r>
            <a:r>
              <a:rPr sz="1500" b="0" i="0">
                <a:solidFill>
                  <a:srgbClr val="5B6875"/>
                </a:solidFill>
                <a:latin typeface="Calibri"/>
              </a:rPr>
              <a:t>   shape &gt; 1 → wear-out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30175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4243A"/>
                </a:solidFill>
                <a:latin typeface="Calibri"/>
              </a:rPr>
              <a:t>η = 1479</a:t>
            </a:r>
            <a:r>
              <a:rPr sz="1500" b="0" i="0">
                <a:solidFill>
                  <a:srgbClr val="5B6875"/>
                </a:solidFill>
                <a:latin typeface="Calibri"/>
              </a:rPr>
              <a:t>   characteristic life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3520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2733"/>
                </a:solidFill>
                <a:latin typeface="Calibri"/>
              </a:rPr>
              <a:t>20 failures</a:t>
            </a:r>
            <a:r>
              <a:rPr sz="1500" b="0" i="0">
                <a:solidFill>
                  <a:srgbClr val="8A8F98"/>
                </a:solidFill>
                <a:latin typeface="Calibri"/>
              </a:rPr>
              <a:t>  ·  </a:t>
            </a:r>
            <a:r>
              <a:rPr sz="1500" b="1" i="0">
                <a:solidFill>
                  <a:srgbClr val="1C2733"/>
                </a:solidFill>
                <a:latin typeface="Calibri"/>
              </a:rPr>
              <a:t>80 surviving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4160520"/>
            <a:ext cx="4160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1C2733"/>
                </a:solidFill>
                <a:latin typeface="Calibri"/>
              </a:rPr>
              <a:t>This fit is the reference the growth adjustment is measured against.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MAIN BODY</a:t>
            </a:r>
          </a:p>
        </p:txBody>
      </p:sp>
      <p:sp>
        <p:nvSpPr>
          <p:cNvPr id="3" name="Diamond 2"/>
          <p:cNvSpPr/>
          <p:nvPr/>
        </p:nvSpPr>
        <p:spPr>
          <a:xfrm>
            <a:off x="566928" y="713232"/>
            <a:ext cx="155448" cy="155448"/>
          </a:xfrm>
          <a:prstGeom prst="diamond">
            <a:avLst/>
          </a:prstGeom>
          <a:solidFill>
            <a:srgbClr val="C32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4243A"/>
                </a:solidFill>
                <a:latin typeface="Calibri"/>
              </a:rPr>
              <a:t>Step 2 — development shows real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880" y="1508760"/>
            <a:ext cx="6095999" cy="4617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r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" y="1600200"/>
            <a:ext cx="5913119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95160" y="1783080"/>
            <a:ext cx="4572000" cy="370332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2011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4243A"/>
                </a:solidFill>
                <a:latin typeface="Calibri"/>
              </a:rPr>
              <a:t>Crow-AMSAA growth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25603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4243A"/>
                </a:solidFill>
                <a:latin typeface="Calibri"/>
              </a:rPr>
              <a:t>βg = 0.60</a:t>
            </a:r>
            <a:r>
              <a:rPr sz="1500" b="0" i="0">
                <a:solidFill>
                  <a:srgbClr val="5B6875"/>
                </a:solidFill>
                <a:latin typeface="Calibri"/>
              </a:rPr>
              <a:t>   &lt; 1 → improving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30175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4243A"/>
                </a:solidFill>
                <a:latin typeface="Calibri"/>
              </a:rPr>
              <a:t>R² = 0.996</a:t>
            </a:r>
            <a:r>
              <a:rPr sz="1500" b="0" i="0">
                <a:solidFill>
                  <a:srgbClr val="5B6875"/>
                </a:solidFill>
                <a:latin typeface="Calibri"/>
              </a:rPr>
              <a:t>   trend fits tightly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3520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32135"/>
                </a:solidFill>
                <a:latin typeface="Calibri"/>
              </a:rPr>
              <a:t>growth rate g = 0.40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4160520"/>
            <a:ext cx="4160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1C2733"/>
                </a:solidFill>
                <a:latin typeface="Calibri"/>
              </a:rPr>
              <a:t>Decreasing failure intensity as the design matured — genuine, not an artifact.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MAIN BODY</a:t>
            </a:r>
          </a:p>
        </p:txBody>
      </p:sp>
      <p:sp>
        <p:nvSpPr>
          <p:cNvPr id="3" name="Diamond 2"/>
          <p:cNvSpPr/>
          <p:nvPr/>
        </p:nvSpPr>
        <p:spPr>
          <a:xfrm>
            <a:off x="566928" y="713232"/>
            <a:ext cx="155448" cy="155448"/>
          </a:xfrm>
          <a:prstGeom prst="diamond">
            <a:avLst/>
          </a:prstGeom>
          <a:solidFill>
            <a:srgbClr val="C32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4243A"/>
                </a:solidFill>
                <a:latin typeface="Calibri"/>
              </a:rPr>
              <a:t>The payoff: growth finally moves the life estimate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0118" y="1508760"/>
            <a:ext cx="6152083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" y="1600200"/>
            <a:ext cx="5969203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03720" y="1691640"/>
            <a:ext cx="4663440" cy="182880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1874519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B6875"/>
                </a:solidFill>
                <a:latin typeface="Calibri"/>
              </a:rPr>
              <a:t>Characteristic life 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19456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8A8F98"/>
                </a:solidFill>
                <a:latin typeface="Calibri"/>
              </a:rPr>
              <a:t>1479 </a:t>
            </a:r>
            <a:r>
              <a:rPr sz="3300" b="1" i="0">
                <a:solidFill>
                  <a:srgbClr val="14243A"/>
                </a:solidFill>
                <a:latin typeface="Calibri"/>
              </a:rPr>
              <a:t>→ 1739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1240" y="2395728"/>
            <a:ext cx="1508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2200" b="1" i="0">
                <a:solidFill>
                  <a:srgbClr val="C32135"/>
                </a:solidFill>
                <a:latin typeface="Calibri"/>
              </a:rPr>
              <a:t>+17.6%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3703320"/>
            <a:ext cx="4663440" cy="17830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388620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B6875"/>
                </a:solidFill>
                <a:latin typeface="Calibri"/>
              </a:rPr>
              <a:t>B10 life  (conservative indicator)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420624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 i="0">
                <a:solidFill>
                  <a:srgbClr val="8A8F98"/>
                </a:solidFill>
                <a:latin typeface="Calibri"/>
              </a:rPr>
              <a:t>820 </a:t>
            </a:r>
            <a:r>
              <a:rPr sz="3300" b="1" i="0">
                <a:solidFill>
                  <a:srgbClr val="14243A"/>
                </a:solidFill>
                <a:latin typeface="Calibri"/>
              </a:rPr>
              <a:t>→ 839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4407408"/>
            <a:ext cx="1508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2200" b="1" i="0">
                <a:solidFill>
                  <a:srgbClr val="C32135"/>
                </a:solidFill>
                <a:latin typeface="Calibri"/>
              </a:rPr>
              <a:t>+2.3%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60350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3E5C76"/>
                </a:solidFill>
                <a:latin typeface="Calibri"/>
              </a:rPr>
              <a:t>Same fleet data. The development trend, propagated, lifts the fitted life — here's where the improvement finally shows up in unit-level risk.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MAIN BODY</a:t>
            </a:r>
          </a:p>
        </p:txBody>
      </p:sp>
      <p:sp>
        <p:nvSpPr>
          <p:cNvPr id="3" name="Diamond 2"/>
          <p:cNvSpPr/>
          <p:nvPr/>
        </p:nvSpPr>
        <p:spPr>
          <a:xfrm>
            <a:off x="566928" y="713232"/>
            <a:ext cx="155448" cy="155448"/>
          </a:xfrm>
          <a:prstGeom prst="diamond">
            <a:avLst/>
          </a:prstGeom>
          <a:solidFill>
            <a:srgbClr val="C32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4243A"/>
                </a:solidFill>
                <a:latin typeface="Calibri"/>
              </a:rPr>
              <a:t>How much does it vary?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32346"/>
            <a:ext cx="6355080" cy="423338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m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23786"/>
            <a:ext cx="6172200" cy="405050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40880" y="1737360"/>
            <a:ext cx="4526280" cy="3749039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2011680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4243A"/>
                </a:solidFill>
                <a:latin typeface="Calibri"/>
              </a:rPr>
              <a:t>500</a:t>
            </a:r>
            <a:r>
              <a:rPr sz="1500" b="0" i="0">
                <a:solidFill>
                  <a:srgbClr val="1C2733"/>
                </a:solidFill>
                <a:latin typeface="Calibri"/>
              </a:rPr>
              <a:t> valid iterations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560320"/>
            <a:ext cx="4114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5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C2733"/>
                </a:solidFill>
                <a:latin typeface="Calibri"/>
              </a:rPr>
              <a:t>MC median β = 3.01</a:t>
            </a:r>
            <a:r>
              <a:rPr sz="1350" b="0" i="0">
                <a:solidFill>
                  <a:srgbClr val="5B6875"/>
                </a:solidFill>
                <a:latin typeface="Calibri"/>
              </a:rPr>
              <a:t>   (baseline 3.82)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5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C2733"/>
                </a:solidFill>
                <a:latin typeface="Calibri"/>
              </a:rPr>
              <a:t>95% band 2.88 – 3.14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5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C2733"/>
                </a:solidFill>
                <a:latin typeface="Calibri"/>
              </a:rPr>
              <a:t>Growth lowers the shape; spread dominated by the simulation, not growth-parameter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617720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B6875"/>
                </a:solidFill>
                <a:latin typeface="Calibri"/>
              </a:rPr>
              <a:t>Read these as forecast variability bands conditional on the fitted model — not inferential confidence intervals.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MAIN BODY</a:t>
            </a:r>
          </a:p>
        </p:txBody>
      </p:sp>
      <p:sp>
        <p:nvSpPr>
          <p:cNvPr id="3" name="Diamond 2"/>
          <p:cNvSpPr/>
          <p:nvPr/>
        </p:nvSpPr>
        <p:spPr>
          <a:xfrm>
            <a:off x="566928" y="713232"/>
            <a:ext cx="155448" cy="155448"/>
          </a:xfrm>
          <a:prstGeom prst="diamond">
            <a:avLst/>
          </a:prstGeom>
          <a:solidFill>
            <a:srgbClr val="C32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4243A"/>
                </a:solidFill>
                <a:latin typeface="Calibri"/>
              </a:rPr>
              <a:t>What actually moves the answer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216" y="1554480"/>
            <a:ext cx="6301047" cy="4389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8A8F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56" y="1645920"/>
            <a:ext cx="6118167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40880" y="1783080"/>
            <a:ext cx="4526280" cy="3611880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057400"/>
            <a:ext cx="4114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5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1C2733"/>
                </a:solidFill>
                <a:latin typeface="Calibri"/>
              </a:rPr>
              <a:t>Stronger growth → larger η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5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C2733"/>
                </a:solidFill>
                <a:latin typeface="Calibri"/>
              </a:rPr>
              <a:t>monotonic and orderly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5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C2733"/>
                </a:solidFill>
                <a:latin typeface="Calibri"/>
              </a:rPr>
              <a:t>At βg = 1 it returns to the baseline — the shift is entirely the growth trend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5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C2733"/>
                </a:solidFill>
                <a:latin typeface="Calibri"/>
              </a:rPr>
              <a:t>Robust to WHEN you assess the fleet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572000"/>
            <a:ext cx="4160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1">
                <a:solidFill>
                  <a:srgbClr val="3E5C76"/>
                </a:solidFill>
                <a:latin typeface="Calibri"/>
              </a:rPr>
              <a:t>What matters most is having enough observed failures to pin down the baseline.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SUMMARY &amp; CONCLUSIONS</a:t>
            </a:r>
          </a:p>
        </p:txBody>
      </p:sp>
      <p:sp>
        <p:nvSpPr>
          <p:cNvPr id="3" name="Diamond 2"/>
          <p:cNvSpPr/>
          <p:nvPr/>
        </p:nvSpPr>
        <p:spPr>
          <a:xfrm>
            <a:off x="566928" y="713232"/>
            <a:ext cx="155448" cy="155448"/>
          </a:xfrm>
          <a:prstGeom prst="diamond">
            <a:avLst/>
          </a:prstGeom>
          <a:solidFill>
            <a:srgbClr val="C32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4243A"/>
                </a:solidFill>
                <a:latin typeface="Calibri"/>
              </a:rPr>
              <a:t>Summary &amp; conclusions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0607040" cy="3977639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100584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300"/>
              </a:spcAft>
            </a:pPr>
            <a:r>
              <a:rPr sz="15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4243A"/>
                </a:solidFill>
                <a:latin typeface="Calibri"/>
              </a:rPr>
              <a:t>Bridges the two silos </a:t>
            </a:r>
            <a:r>
              <a:rPr sz="1500" b="0" i="0">
                <a:solidFill>
                  <a:srgbClr val="1C2733"/>
                </a:solidFill>
                <a:latin typeface="Calibri"/>
              </a:rPr>
              <a:t>— reliability growth and unit-level life estimation, normally analyzed apart.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</a:pPr>
            <a:r>
              <a:rPr sz="15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4243A"/>
                </a:solidFill>
                <a:latin typeface="Calibri"/>
              </a:rPr>
              <a:t>Growth lifts the fitted life: </a:t>
            </a:r>
            <a:r>
              <a:rPr sz="1500" b="0" i="0">
                <a:solidFill>
                  <a:srgbClr val="1C2733"/>
                </a:solidFill>
                <a:latin typeface="Calibri"/>
              </a:rPr>
              <a:t>characteristic life η +17.6% (1479 → 1739); B10 +2.3% (820 → 839).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</a:pPr>
            <a:r>
              <a:rPr sz="15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4243A"/>
                </a:solidFill>
                <a:latin typeface="Calibri"/>
              </a:rPr>
              <a:t>A mechanical consequence, not a coincidence: </a:t>
            </a:r>
            <a:r>
              <a:rPr sz="1500" b="0" i="0">
                <a:solidFill>
                  <a:srgbClr val="1C2733"/>
                </a:solidFill>
                <a:latin typeface="Calibri"/>
              </a:rPr>
              <a:t>growth lowers the expected failure count (count-ratio c = 0.57), forcing a larger characteristic life.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</a:pPr>
            <a:r>
              <a:rPr sz="15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4243A"/>
                </a:solidFill>
                <a:latin typeface="Calibri"/>
              </a:rPr>
              <a:t>Stable under Monte Carlo: </a:t>
            </a:r>
            <a:r>
              <a:rPr sz="1500" b="0" i="0">
                <a:solidFill>
                  <a:srgbClr val="1C2733"/>
                </a:solidFill>
                <a:latin typeface="Calibri"/>
              </a:rPr>
              <a:t>median shape β = 3.01 (baseline 3.82), 95% band 2.88 – 3.14 — spread dominated by the simulation, not growth-parameter error.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</a:pPr>
            <a:r>
              <a:rPr sz="15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C32135"/>
                </a:solidFill>
                <a:latin typeface="Calibri"/>
              </a:rPr>
              <a:t>An optimistic bound: </a:t>
            </a:r>
            <a:r>
              <a:rPr sz="1500" b="0" i="0">
                <a:solidFill>
                  <a:srgbClr val="1C2733"/>
                </a:solidFill>
                <a:latin typeface="Calibri"/>
              </a:rPr>
              <a:t>valid only if development growth continues in service; freeze the design → the no-growth baseline applies.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</a:pPr>
            <a:r>
              <a:rPr sz="15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C32135"/>
                </a:solidFill>
                <a:latin typeface="Calibri"/>
              </a:rPr>
              <a:t>Honest by construction: </a:t>
            </a:r>
            <a:r>
              <a:rPr sz="1500" b="0" i="0">
                <a:solidFill>
                  <a:srgbClr val="1C2733"/>
                </a:solidFill>
                <a:latin typeface="Calibri"/>
              </a:rPr>
              <a:t>we quantify the shift's magnitude and variability — never a claim of better predictive accuracy.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806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1">
                <a:solidFill>
                  <a:srgbClr val="3E5C76"/>
                </a:solidFill>
                <a:latin typeface="Calibri"/>
              </a:rPr>
              <a:t>The contribution: a repeatable, bounded way to turn an observed growth trend into a fleet-level life estimate.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NEXT STEPS &amp; FUTURE WORK</a:t>
            </a:r>
          </a:p>
        </p:txBody>
      </p:sp>
      <p:sp>
        <p:nvSpPr>
          <p:cNvPr id="3" name="Diamond 2"/>
          <p:cNvSpPr/>
          <p:nvPr/>
        </p:nvSpPr>
        <p:spPr>
          <a:xfrm>
            <a:off x="566928" y="713232"/>
            <a:ext cx="155448" cy="155448"/>
          </a:xfrm>
          <a:prstGeom prst="diamond">
            <a:avLst/>
          </a:prstGeom>
          <a:solidFill>
            <a:srgbClr val="C32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4243A"/>
                </a:solidFill>
                <a:latin typeface="Calibri"/>
              </a:rPr>
              <a:t>Next steps &amp; 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0607040" cy="3977639"/>
          </a:xfrm>
          <a:prstGeom prst="roundRect">
            <a:avLst>
              <a:gd name="adj" fmla="val 6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100584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500"/>
              </a:spcAft>
            </a:pPr>
            <a:r>
              <a:rPr sz="15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4243A"/>
                </a:solidFill>
                <a:latin typeface="Calibri"/>
              </a:rPr>
              <a:t>Validate predictive accuracy </a:t>
            </a:r>
            <a:r>
              <a:rPr sz="1500" b="0" i="0">
                <a:solidFill>
                  <a:srgbClr val="1C2733"/>
                </a:solidFill>
                <a:latin typeface="Calibri"/>
              </a:rPr>
              <a:t>against a fleet that genuinely keeps improving, so the forecast can be compared to held-out ground truth.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</a:pPr>
            <a:r>
              <a:rPr sz="15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4243A"/>
                </a:solidFill>
                <a:latin typeface="Calibri"/>
              </a:rPr>
              <a:t>Propagate more uncertainty </a:t>
            </a:r>
            <a:r>
              <a:rPr sz="1500" b="0" i="0">
                <a:solidFill>
                  <a:srgbClr val="1C2733"/>
                </a:solidFill>
                <a:latin typeface="Calibri"/>
              </a:rPr>
              <a:t>— model-form (the Crow-AMSAA power law) and the input Weibull shape β, held fixed here.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</a:pPr>
            <a:r>
              <a:rPr sz="15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4243A"/>
                </a:solidFill>
                <a:latin typeface="Calibri"/>
              </a:rPr>
              <a:t>Test alternative growth models </a:t>
            </a:r>
            <a:r>
              <a:rPr sz="1500" b="0" i="0">
                <a:solidFill>
                  <a:srgbClr val="1C2733"/>
                </a:solidFill>
                <a:latin typeface="Calibri"/>
              </a:rPr>
              <a:t>— e.g. a piecewise NHPP with change-point detection, which may yield different counts.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</a:pPr>
            <a:r>
              <a:rPr sz="15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4243A"/>
                </a:solidFill>
                <a:latin typeface="Calibri"/>
              </a:rPr>
              <a:t>Relax the homogeneous-fleet assumption </a:t>
            </a:r>
            <a:r>
              <a:rPr sz="1500" b="0" i="0">
                <a:solidFill>
                  <a:srgbClr val="1C2733"/>
                </a:solidFill>
                <a:latin typeface="Calibri"/>
              </a:rPr>
              <a:t>— distinct subpopulations and repair / replacement scenarios.</a:t>
            </a:r>
          </a:p>
          <a:p>
            <a:pPr algn="l">
              <a:lnSpc>
                <a:spcPct val="100000"/>
              </a:lnSpc>
              <a:spcAft>
                <a:spcPts val="1500"/>
              </a:spcAft>
            </a:pPr>
            <a:r>
              <a:rPr sz="150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4243A"/>
                </a:solidFill>
                <a:latin typeface="Calibri"/>
              </a:rPr>
              <a:t>Reproducible &amp; open-source </a:t>
            </a:r>
            <a:r>
              <a:rPr sz="1500" b="0" i="0">
                <a:solidFill>
                  <a:srgbClr val="1C2733"/>
                </a:solidFill>
                <a:latin typeface="Calibri"/>
              </a:rPr>
              <a:t>— ReliaGrowR (CRAN) + WeibullR; currently under rOpenSci software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8064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C2733"/>
                </a:solidFill>
                <a:latin typeface="Calibri"/>
              </a:rPr>
              <a:t>ReliaGrowR on CRAN:  </a:t>
            </a:r>
            <a:r>
              <a:rPr sz="1400" b="1" i="0">
                <a:solidFill>
                  <a:srgbClr val="C32135"/>
                </a:solidFill>
                <a:latin typeface="Calibri"/>
              </a:rPr>
              <a:t>cran.r-project.org/package=ReliaGrowR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REFERENCES</a:t>
            </a:r>
          </a:p>
        </p:txBody>
      </p:sp>
      <p:sp>
        <p:nvSpPr>
          <p:cNvPr id="3" name="Diamond 2"/>
          <p:cNvSpPr/>
          <p:nvPr/>
        </p:nvSpPr>
        <p:spPr>
          <a:xfrm>
            <a:off x="566928" y="713232"/>
            <a:ext cx="155448" cy="155448"/>
          </a:xfrm>
          <a:prstGeom prst="diamond">
            <a:avLst/>
          </a:prstGeom>
          <a:solidFill>
            <a:srgbClr val="C32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66928"/>
            <a:ext cx="107899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 i="0">
                <a:solidFill>
                  <a:srgbClr val="14243A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070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C2733"/>
                </a:solidFill>
                <a:latin typeface="Calibri"/>
              </a:rPr>
              <a:t>L. H. Crow, “Reliability analysis for complex, repairable systems,” U.S. Army AMSAA, Tech. Rep. 138, 1975.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C2733"/>
                </a:solidFill>
                <a:latin typeface="Calibri"/>
              </a:rPr>
              <a:t>P. Govan, “ReliaGrowR: Modeling and plotting functions for reliability growth analysis,” in Proc. 2026 RAMS, doi:10.1109/RAMS50514.2026.11424445.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C2733"/>
                </a:solidFill>
                <a:latin typeface="Calibri"/>
              </a:rPr>
              <a:t>P. Govan, ReliaGrowR: Reliability Growth Analysis, R package, 2024, doi:10.32614/CRAN.package.ReliaGrowR.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C2733"/>
                </a:solidFill>
                <a:latin typeface="Calibri"/>
              </a:rPr>
              <a:t>D. Silkworth and J. Symynck, WeibullR: Weibull Analysis for Reliability Engineering, R package v1.2.4, 2025.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C2733"/>
                </a:solidFill>
                <a:latin typeface="Calibri"/>
              </a:rPr>
              <a:t>H. Guo, A. Mettas, G. Sarakakis, and P. Niu, “Piecewise NHPP models with MLE for repairable systems,” in Proc. 2010 RAMS, doi:10.1109/RAMS.2010.5448029.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C2733"/>
                </a:solidFill>
                <a:latin typeface="Calibri"/>
              </a:rPr>
              <a:t>C. W. Zhang, T. Zhang, D. Xu, and M. Xie, “Analyzing highly censored reliability data without exact failure times,” Qual. Eng., 2013, doi:10.1080/08982112.2013.783598.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C2733"/>
                </a:solidFill>
                <a:latin typeface="Calibri"/>
              </a:rPr>
              <a:t>E. Makalic and D. F. Schmidt, “Minimum message length inference of the Weibull distribution,” in AI 2023, LNCS 14471, pp. 291–303, doi:10.1007/978-981-99-8388-9_24.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C2733"/>
                </a:solidFill>
                <a:latin typeface="Calibri"/>
              </a:rPr>
              <a:t>T. M. Grile and R. A. Bettinger, “Reliability analysis of deep space satellites launched 1991–2020,” Qual. Reliab. Eng. Int., 2024, doi:10.1002/qre.3600.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C32135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C2733"/>
                </a:solidFill>
                <a:latin typeface="Calibri"/>
              </a:rPr>
              <a:t>V. M. R. Muggeo, “segmented: an R package to fit regression models with broken-line relationships,” R News, vol. 8(1), pp. 20–25, 2008.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8126</TotalTime>
  <Words>176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Bonus –Tips for your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vkrivtso</dc:creator>
  <cp:lastModifiedBy>Franklin, Paul</cp:lastModifiedBy>
  <cp:revision>32</cp:revision>
  <dcterms:created xsi:type="dcterms:W3CDTF">2023-07-23T18:01:22Z</dcterms:created>
  <dcterms:modified xsi:type="dcterms:W3CDTF">2026-06-01T19:02:55Z</dcterms:modified>
</cp:coreProperties>
</file>